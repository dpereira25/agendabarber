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TT Interphases Bold" charset="1" panose="02000803060000020004"/>
      <p:regular r:id="rId18"/>
    </p:embeddedFont>
    <p:embeddedFont>
      <p:font typeface="TT Interphases" charset="1" panose="020005030200000200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1028700"/>
            <a:ext cx="8608638" cy="8608638"/>
          </a:xfrm>
          <a:custGeom>
            <a:avLst/>
            <a:gdLst/>
            <a:ahLst/>
            <a:cxnLst/>
            <a:rect r="r" b="b" t="t" l="l"/>
            <a:pathLst>
              <a:path h="8608638" w="8608638">
                <a:moveTo>
                  <a:pt x="0" y="0"/>
                </a:moveTo>
                <a:lnTo>
                  <a:pt x="8608638" y="0"/>
                </a:lnTo>
                <a:lnTo>
                  <a:pt x="8608638" y="8608638"/>
                </a:lnTo>
                <a:lnTo>
                  <a:pt x="0" y="86086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194694"/>
            <a:ext cx="7389761" cy="1041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83"/>
              </a:lnSpc>
            </a:pPr>
            <a:r>
              <a:rPr lang="en-US" sz="8716" spc="-427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Agenda Ba</a:t>
            </a:r>
            <a:r>
              <a:rPr lang="en-US" sz="8716" spc="-427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rber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063119"/>
            <a:ext cx="7000052" cy="3363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0"/>
              </a:lnSpc>
            </a:pPr>
            <a:r>
              <a:rPr lang="en-US" sz="5035" spc="-24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Javier Sereño</a:t>
            </a:r>
          </a:p>
          <a:p>
            <a:pPr algn="l">
              <a:lnSpc>
                <a:spcPts val="4380"/>
              </a:lnSpc>
            </a:pPr>
            <a:r>
              <a:rPr lang="en-US" sz="5035" spc="-24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Danyel Pereira</a:t>
            </a:r>
          </a:p>
          <a:p>
            <a:pPr algn="l">
              <a:lnSpc>
                <a:spcPts val="4380"/>
              </a:lnSpc>
            </a:pPr>
            <a:r>
              <a:rPr lang="en-US" sz="5035" spc="-24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Benjamin Duran</a:t>
            </a:r>
          </a:p>
          <a:p>
            <a:pPr algn="l">
              <a:lnSpc>
                <a:spcPts val="4380"/>
              </a:lnSpc>
            </a:pPr>
            <a:r>
              <a:rPr lang="en-US" sz="5035" spc="-24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</a:p>
          <a:p>
            <a:pPr algn="l">
              <a:lnSpc>
                <a:spcPts val="4380"/>
              </a:lnSpc>
            </a:pPr>
            <a:r>
              <a:rPr lang="en-US" sz="5035" spc="-246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Asignatura: Capstone – Definición Proyecto APT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41857" y="3252635"/>
            <a:ext cx="5827546" cy="3768337"/>
          </a:xfrm>
          <a:custGeom>
            <a:avLst/>
            <a:gdLst/>
            <a:ahLst/>
            <a:cxnLst/>
            <a:rect r="r" b="b" t="t" l="l"/>
            <a:pathLst>
              <a:path h="3768337" w="5827546">
                <a:moveTo>
                  <a:pt x="0" y="0"/>
                </a:moveTo>
                <a:lnTo>
                  <a:pt x="5827546" y="0"/>
                </a:lnTo>
                <a:lnTo>
                  <a:pt x="5827546" y="3768337"/>
                </a:lnTo>
                <a:lnTo>
                  <a:pt x="0" y="3768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90928" y="542092"/>
            <a:ext cx="7706144" cy="672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2"/>
              </a:lnSpc>
            </a:pPr>
            <a:r>
              <a:rPr lang="en-US" sz="5600" spc="-274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Descripción del Proyecto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01722"/>
            <a:ext cx="10076548" cy="183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Agenda Barber es un sistema de gestión pensado para barberías y barberos independientes.</a:t>
            </a:r>
          </a:p>
          <a:p>
            <a:pPr algn="l">
              <a:lnSpc>
                <a:spcPts val="490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947572"/>
            <a:ext cx="10426448" cy="307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Nuestra propuesta es crear una aplicación web que permita a los client</a:t>
            </a: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es agendar su hora de forma</a:t>
            </a: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digital, pagar por adelantado para asegurar la reserva, y además acceder a un catálogo de servicios y tipos de cortes.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423150"/>
            <a:ext cx="10076548" cy="183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Buscamos profesionalizar la gestión d</a:t>
            </a: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 barberías y mejorar</a:t>
            </a: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la experiencia tanto del cliente como del barbero.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39409" y="2785973"/>
            <a:ext cx="4027670" cy="5104190"/>
          </a:xfrm>
          <a:custGeom>
            <a:avLst/>
            <a:gdLst/>
            <a:ahLst/>
            <a:cxnLst/>
            <a:rect r="r" b="b" t="t" l="l"/>
            <a:pathLst>
              <a:path h="5104190" w="4027670">
                <a:moveTo>
                  <a:pt x="0" y="0"/>
                </a:moveTo>
                <a:lnTo>
                  <a:pt x="4027671" y="0"/>
                </a:lnTo>
                <a:lnTo>
                  <a:pt x="4027671" y="5104191"/>
                </a:lnTo>
                <a:lnTo>
                  <a:pt x="0" y="51041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55792" y="460906"/>
            <a:ext cx="14576416" cy="67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sz="5599" spc="-274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Relación con Competencias del Perfil de Egreso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1897189"/>
            <a:ext cx="9420570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301" indent="-503767" lvl="2">
              <a:lnSpc>
                <a:spcPts val="4900"/>
              </a:lnSpc>
              <a:buFont typeface="Arial"/>
              <a:buChar char="⚬"/>
            </a:pP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Este proyecto nos permite ap</a:t>
            </a: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licar d</a:t>
            </a: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irect</a:t>
            </a: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ame</a:t>
            </a: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nte las competencias del perfil de egreso de Ingeniería en Informática.</a:t>
            </a:r>
          </a:p>
          <a:p>
            <a:pPr algn="l">
              <a:lnSpc>
                <a:spcPts val="490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0" y="4284789"/>
            <a:ext cx="9829007" cy="554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301" indent="-503767" lvl="2">
              <a:lnSpc>
                <a:spcPts val="4900"/>
              </a:lnSpc>
              <a:buFont typeface="Arial"/>
              <a:buChar char="⚬"/>
            </a:pPr>
            <a:r>
              <a:rPr lang="en-US" b="true" sz="3500" spc="-17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Desarrollo de software</a:t>
            </a: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ya que construiremos una aplicación web completa.</a:t>
            </a:r>
          </a:p>
          <a:p>
            <a:pPr algn="l" marL="1511301" indent="-503767" lvl="2">
              <a:lnSpc>
                <a:spcPts val="4900"/>
              </a:lnSpc>
              <a:buFont typeface="Arial"/>
              <a:buChar char="⚬"/>
            </a:pPr>
            <a:r>
              <a:rPr lang="en-US" b="true" sz="3500" spc="-17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Gestión de proyectos</a:t>
            </a: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porque ap</a:t>
            </a: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licaremos metodologías ág</a:t>
            </a: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iles como Scrum.</a:t>
            </a:r>
          </a:p>
          <a:p>
            <a:pPr algn="l" marL="1511301" indent="-503767" lvl="2">
              <a:lnSpc>
                <a:spcPts val="4900"/>
              </a:lnSpc>
              <a:buFont typeface="Arial"/>
              <a:buChar char="⚬"/>
            </a:pPr>
            <a:r>
              <a:rPr lang="en-US" b="true" sz="3500" spc="-17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Diseño de modelos de datos</a:t>
            </a: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p</a:t>
            </a: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ara manejar información de clie</a:t>
            </a: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ntes, servicios y reservas.</a:t>
            </a:r>
          </a:p>
          <a:p>
            <a:pPr algn="l" marL="1511301" indent="-503767" lvl="2">
              <a:lnSpc>
                <a:spcPts val="4900"/>
              </a:lnSpc>
              <a:buFont typeface="Arial"/>
              <a:buChar char="⚬"/>
            </a:pP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Y también la </a:t>
            </a:r>
            <a:r>
              <a:rPr lang="en-US" b="true" sz="3500" spc="-17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integración de soluciones tecnológicas</a:t>
            </a: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, en este caso con pagos online.</a:t>
            </a:r>
          </a:p>
          <a:p>
            <a:pPr algn="l">
              <a:lnSpc>
                <a:spcPts val="49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03424" y="3243745"/>
            <a:ext cx="3561172" cy="4114800"/>
          </a:xfrm>
          <a:custGeom>
            <a:avLst/>
            <a:gdLst/>
            <a:ahLst/>
            <a:cxnLst/>
            <a:rect r="r" b="b" t="t" l="l"/>
            <a:pathLst>
              <a:path h="4114800" w="3561172">
                <a:moveTo>
                  <a:pt x="0" y="0"/>
                </a:moveTo>
                <a:lnTo>
                  <a:pt x="3561173" y="0"/>
                </a:lnTo>
                <a:lnTo>
                  <a:pt x="35611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19289" y="502515"/>
            <a:ext cx="11249423" cy="672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sz="5599" spc="-274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Relación con Intereses Profesionales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455312"/>
            <a:ext cx="9095748" cy="431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301" indent="-503767" lvl="2">
              <a:lnSpc>
                <a:spcPts val="4900"/>
              </a:lnSpc>
              <a:buFont typeface="Arial"/>
              <a:buChar char="⚬"/>
            </a:pP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Aplicación práctica en gestión de proyectos y análisis de datos.</a:t>
            </a:r>
          </a:p>
          <a:p>
            <a:pPr algn="l" marL="1511301" indent="-503767" lvl="2">
              <a:lnSpc>
                <a:spcPts val="4900"/>
              </a:lnSpc>
              <a:buFont typeface="Arial"/>
              <a:buChar char="⚬"/>
            </a:pP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Permite ap</a:t>
            </a: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licar conoc</a:t>
            </a: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</a:t>
            </a: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mie</a:t>
            </a: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ntos en desarrollo web y bases de datos, pero enfocado en la toma de decisiones estratégicas.</a:t>
            </a:r>
          </a:p>
          <a:p>
            <a:pPr algn="l">
              <a:lnSpc>
                <a:spcPts val="49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149471" y="6984074"/>
            <a:ext cx="2649929" cy="2649929"/>
          </a:xfrm>
          <a:custGeom>
            <a:avLst/>
            <a:gdLst/>
            <a:ahLst/>
            <a:cxnLst/>
            <a:rect r="r" b="b" t="t" l="l"/>
            <a:pathLst>
              <a:path h="2649929" w="2649929">
                <a:moveTo>
                  <a:pt x="0" y="0"/>
                </a:moveTo>
                <a:lnTo>
                  <a:pt x="2649928" y="0"/>
                </a:lnTo>
                <a:lnTo>
                  <a:pt x="2649928" y="2649929"/>
                </a:lnTo>
                <a:lnTo>
                  <a:pt x="0" y="26499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56724" y="6926852"/>
            <a:ext cx="3254504" cy="2619638"/>
          </a:xfrm>
          <a:custGeom>
            <a:avLst/>
            <a:gdLst/>
            <a:ahLst/>
            <a:cxnLst/>
            <a:rect r="r" b="b" t="t" l="l"/>
            <a:pathLst>
              <a:path h="2619638" w="3254504">
                <a:moveTo>
                  <a:pt x="0" y="0"/>
                </a:moveTo>
                <a:lnTo>
                  <a:pt x="3254504" y="0"/>
                </a:lnTo>
                <a:lnTo>
                  <a:pt x="3254504" y="2619638"/>
                </a:lnTo>
                <a:lnTo>
                  <a:pt x="0" y="2619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70743" y="6926852"/>
            <a:ext cx="2707150" cy="2707150"/>
          </a:xfrm>
          <a:custGeom>
            <a:avLst/>
            <a:gdLst/>
            <a:ahLst/>
            <a:cxnLst/>
            <a:rect r="r" b="b" t="t" l="l"/>
            <a:pathLst>
              <a:path h="2707150" w="2707150">
                <a:moveTo>
                  <a:pt x="0" y="0"/>
                </a:moveTo>
                <a:lnTo>
                  <a:pt x="2707151" y="0"/>
                </a:lnTo>
                <a:lnTo>
                  <a:pt x="2707151" y="2707151"/>
                </a:lnTo>
                <a:lnTo>
                  <a:pt x="0" y="27071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305221" y="355854"/>
            <a:ext cx="3677558" cy="672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2"/>
              </a:lnSpc>
            </a:pPr>
            <a:r>
              <a:rPr lang="en-US" sz="5600" spc="-274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Factibilidad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78818" y="1699609"/>
            <a:ext cx="14010317" cy="431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301" indent="-503767" lvl="2">
              <a:lnSpc>
                <a:spcPts val="4900"/>
              </a:lnSpc>
              <a:buFont typeface="Arial"/>
              <a:buChar char="⚬"/>
            </a:pP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Tiempo: 16 semanas, ajustado al plan de Capstone.</a:t>
            </a:r>
          </a:p>
          <a:p>
            <a:pPr algn="l">
              <a:lnSpc>
                <a:spcPts val="4900"/>
              </a:lnSpc>
            </a:pPr>
          </a:p>
          <a:p>
            <a:pPr algn="l" marL="1511301" indent="-503767" lvl="2">
              <a:lnSpc>
                <a:spcPts val="4900"/>
              </a:lnSpc>
              <a:buFont typeface="Arial"/>
              <a:buChar char="⚬"/>
            </a:pP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</a:t>
            </a: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</a:t>
            </a: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cursos: conoc</a:t>
            </a: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</a:t>
            </a: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mie</a:t>
            </a: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ntos previos (Django, Bootstrap, PostgreSQL), herramientas gratuitas/educativas.</a:t>
            </a:r>
          </a:p>
          <a:p>
            <a:pPr algn="l">
              <a:lnSpc>
                <a:spcPts val="4900"/>
              </a:lnSpc>
            </a:pPr>
          </a:p>
          <a:p>
            <a:pPr algn="l" marL="1511301" indent="-503767" lvl="2">
              <a:lnSpc>
                <a:spcPts val="4900"/>
              </a:lnSpc>
              <a:buFont typeface="Arial"/>
              <a:buChar char="⚬"/>
            </a:pP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Escalabilidad: útil tanto para barberos independientes como para barberías con múltiples profesionales.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80290" y="3086100"/>
            <a:ext cx="4010060" cy="4114800"/>
          </a:xfrm>
          <a:custGeom>
            <a:avLst/>
            <a:gdLst/>
            <a:ahLst/>
            <a:cxnLst/>
            <a:rect r="r" b="b" t="t" l="l"/>
            <a:pathLst>
              <a:path h="4114800" w="4010060">
                <a:moveTo>
                  <a:pt x="0" y="0"/>
                </a:moveTo>
                <a:lnTo>
                  <a:pt x="4010060" y="0"/>
                </a:lnTo>
                <a:lnTo>
                  <a:pt x="40100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96154" y="355854"/>
            <a:ext cx="10495693" cy="672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2"/>
              </a:lnSpc>
            </a:pPr>
            <a:r>
              <a:rPr lang="en-US" b="true" sz="5600" spc="-274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Objetivos del Proyecto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4324" y="1719666"/>
            <a:ext cx="10902968" cy="8102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8622" indent="-354311" lvl="1">
              <a:lnSpc>
                <a:spcPts val="4595"/>
              </a:lnSpc>
              <a:spcBef>
                <a:spcPct val="0"/>
              </a:spcBef>
              <a:buFont typeface="Arial"/>
              <a:buChar char="•"/>
            </a:pPr>
            <a:r>
              <a:rPr lang="en-US" sz="3282" spc="-16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General: Diseñ</a:t>
            </a:r>
            <a:r>
              <a:rPr lang="en-US" sz="3282" spc="-16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ar e implementar un sistema de gestión de reservas y pagos para barberías.</a:t>
            </a:r>
          </a:p>
          <a:p>
            <a:pPr algn="l">
              <a:lnSpc>
                <a:spcPts val="4595"/>
              </a:lnSpc>
              <a:spcBef>
                <a:spcPct val="0"/>
              </a:spcBef>
            </a:pPr>
          </a:p>
          <a:p>
            <a:pPr algn="l" marL="708622" indent="-354311" lvl="1">
              <a:lnSpc>
                <a:spcPts val="4595"/>
              </a:lnSpc>
              <a:spcBef>
                <a:spcPct val="0"/>
              </a:spcBef>
              <a:buFont typeface="Arial"/>
              <a:buChar char="•"/>
            </a:pPr>
            <a:r>
              <a:rPr lang="en-US" sz="3282" spc="-16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Específicos:</a:t>
            </a:r>
          </a:p>
          <a:p>
            <a:pPr algn="l">
              <a:lnSpc>
                <a:spcPts val="4595"/>
              </a:lnSpc>
              <a:spcBef>
                <a:spcPct val="0"/>
              </a:spcBef>
            </a:pPr>
          </a:p>
          <a:p>
            <a:pPr algn="l" marL="1417244" indent="-472415" lvl="2">
              <a:lnSpc>
                <a:spcPts val="4595"/>
              </a:lnSpc>
              <a:spcBef>
                <a:spcPct val="0"/>
              </a:spcBef>
              <a:buFont typeface="Arial"/>
              <a:buChar char="⚬"/>
            </a:pPr>
            <a:r>
              <a:rPr lang="en-US" sz="3282" spc="-16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Permitir reservas online con pago anticipado.</a:t>
            </a:r>
          </a:p>
          <a:p>
            <a:pPr algn="l">
              <a:lnSpc>
                <a:spcPts val="4595"/>
              </a:lnSpc>
              <a:spcBef>
                <a:spcPct val="0"/>
              </a:spcBef>
            </a:pPr>
          </a:p>
          <a:p>
            <a:pPr algn="l" marL="1417244" indent="-472415" lvl="2">
              <a:lnSpc>
                <a:spcPts val="4595"/>
              </a:lnSpc>
              <a:spcBef>
                <a:spcPct val="0"/>
              </a:spcBef>
              <a:buFont typeface="Arial"/>
              <a:buChar char="⚬"/>
            </a:pPr>
            <a:r>
              <a:rPr lang="en-US" sz="3282" spc="-16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G</a:t>
            </a:r>
            <a:r>
              <a:rPr lang="en-US" sz="3282" spc="-16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estionar servicios y barberos disponibles.</a:t>
            </a:r>
          </a:p>
          <a:p>
            <a:pPr algn="l">
              <a:lnSpc>
                <a:spcPts val="4595"/>
              </a:lnSpc>
              <a:spcBef>
                <a:spcPct val="0"/>
              </a:spcBef>
            </a:pPr>
          </a:p>
          <a:p>
            <a:pPr algn="l" marL="1417244" indent="-472415" lvl="2">
              <a:lnSpc>
                <a:spcPts val="4595"/>
              </a:lnSpc>
              <a:spcBef>
                <a:spcPct val="0"/>
              </a:spcBef>
              <a:buFont typeface="Arial"/>
              <a:buChar char="⚬"/>
            </a:pPr>
            <a:r>
              <a:rPr lang="en-US" sz="3282" spc="-16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Generar reportes básicos de uso (datos de clientes y horarios).</a:t>
            </a:r>
          </a:p>
          <a:p>
            <a:pPr algn="l">
              <a:lnSpc>
                <a:spcPts val="4595"/>
              </a:lnSpc>
              <a:spcBef>
                <a:spcPct val="0"/>
              </a:spcBef>
            </a:pPr>
          </a:p>
          <a:p>
            <a:pPr algn="l" marL="1417244" indent="-472415" lvl="2">
              <a:lnSpc>
                <a:spcPts val="4595"/>
              </a:lnSpc>
              <a:spcBef>
                <a:spcPct val="0"/>
              </a:spcBef>
              <a:buFont typeface="Arial"/>
              <a:buChar char="⚬"/>
            </a:pPr>
            <a:r>
              <a:rPr lang="en-US" sz="3282" spc="-160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Incluir sección informativa de estilos de cortes.</a:t>
            </a:r>
          </a:p>
          <a:p>
            <a:pPr algn="ctr">
              <a:lnSpc>
                <a:spcPts val="459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79092" y="3086100"/>
            <a:ext cx="4183253" cy="4114800"/>
          </a:xfrm>
          <a:custGeom>
            <a:avLst/>
            <a:gdLst/>
            <a:ahLst/>
            <a:cxnLst/>
            <a:rect r="r" b="b" t="t" l="l"/>
            <a:pathLst>
              <a:path h="4114800" w="4183253">
                <a:moveTo>
                  <a:pt x="0" y="0"/>
                </a:moveTo>
                <a:lnTo>
                  <a:pt x="4183253" y="0"/>
                </a:lnTo>
                <a:lnTo>
                  <a:pt x="41832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73667" y="355854"/>
            <a:ext cx="3940665" cy="672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2"/>
              </a:lnSpc>
            </a:pPr>
            <a:r>
              <a:rPr lang="en-US" sz="5600" spc="-274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Metodología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644775"/>
            <a:ext cx="9836058" cy="493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Ágil (Scrum adaptado) → trabajo en sprints de 2 </a:t>
            </a: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semanas.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Roles claros dentro del equipo.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Entregables parciales: prototipo UI, base de datos, backend funcional, pruebas, versión final.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94979" y="2167981"/>
            <a:ext cx="4507484" cy="4114800"/>
          </a:xfrm>
          <a:custGeom>
            <a:avLst/>
            <a:gdLst/>
            <a:ahLst/>
            <a:cxnLst/>
            <a:rect r="r" b="b" t="t" l="l"/>
            <a:pathLst>
              <a:path h="4114800" w="4507484">
                <a:moveTo>
                  <a:pt x="0" y="0"/>
                </a:moveTo>
                <a:lnTo>
                  <a:pt x="4507484" y="0"/>
                </a:lnTo>
                <a:lnTo>
                  <a:pt x="45074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70852" y="2790082"/>
            <a:ext cx="8115300" cy="431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b="true" sz="3500" spc="-171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Cronograma resumido (semana 1–16).</a:t>
            </a:r>
          </a:p>
          <a:p>
            <a:pPr algn="l" marL="1511301" indent="-503767" lvl="2">
              <a:lnSpc>
                <a:spcPts val="4900"/>
              </a:lnSpc>
              <a:buFont typeface="Arial"/>
              <a:buChar char="⚬"/>
            </a:pP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Hitos principales:</a:t>
            </a:r>
          </a:p>
          <a:p>
            <a:pPr algn="l" marL="2266952" indent="-566738" lvl="3">
              <a:lnSpc>
                <a:spcPts val="4900"/>
              </a:lnSpc>
              <a:buFont typeface="Arial"/>
              <a:buChar char="￭"/>
            </a:pP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Análisis y diseño.</a:t>
            </a:r>
          </a:p>
          <a:p>
            <a:pPr algn="l" marL="2266952" indent="-566738" lvl="3">
              <a:lnSpc>
                <a:spcPts val="4900"/>
              </a:lnSpc>
              <a:buFont typeface="Arial"/>
              <a:buChar char="￭"/>
            </a:pP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Desarrollo backend/frontend.</a:t>
            </a:r>
          </a:p>
          <a:p>
            <a:pPr algn="l" marL="2266952" indent="-566738" lvl="3">
              <a:lnSpc>
                <a:spcPts val="4900"/>
              </a:lnSpc>
              <a:buFont typeface="Arial"/>
              <a:buChar char="￭"/>
            </a:pP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Integración y pruebas.</a:t>
            </a:r>
          </a:p>
          <a:p>
            <a:pPr algn="l" marL="2266952" indent="-566738" lvl="3">
              <a:lnSpc>
                <a:spcPts val="4900"/>
              </a:lnSpc>
              <a:buFont typeface="Arial"/>
              <a:buChar char="￭"/>
            </a:pPr>
            <a:r>
              <a:rPr lang="en-US" sz="3500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Despliegue final y presentación.</a:t>
            </a:r>
          </a:p>
          <a:p>
            <a:pPr algn="l">
              <a:lnSpc>
                <a:spcPts val="490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6754237" y="355854"/>
            <a:ext cx="4779526" cy="672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2"/>
              </a:lnSpc>
            </a:pPr>
            <a:r>
              <a:rPr lang="en-US" sz="5600" spc="-274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Plan de Trabajo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39054" y="3086100"/>
            <a:ext cx="4089083" cy="4114800"/>
          </a:xfrm>
          <a:custGeom>
            <a:avLst/>
            <a:gdLst/>
            <a:ahLst/>
            <a:cxnLst/>
            <a:rect r="r" b="b" t="t" l="l"/>
            <a:pathLst>
              <a:path h="4114800" w="4089083">
                <a:moveTo>
                  <a:pt x="0" y="0"/>
                </a:moveTo>
                <a:lnTo>
                  <a:pt x="4089083" y="0"/>
                </a:lnTo>
                <a:lnTo>
                  <a:pt x="40890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335212"/>
            <a:ext cx="8333320" cy="554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Documento de requerimientos y diseño.</a:t>
            </a:r>
          </a:p>
          <a:p>
            <a:pPr algn="l">
              <a:lnSpc>
                <a:spcPts val="4899"/>
              </a:lnSpc>
            </a:pP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Prototipos iniciales .</a:t>
            </a:r>
          </a:p>
          <a:p>
            <a:pPr algn="l">
              <a:lnSpc>
                <a:spcPts val="4899"/>
              </a:lnSpc>
            </a:pP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El sistema funcionando con agenda, pagos y catálogo de servicios.</a:t>
            </a:r>
          </a:p>
          <a:p>
            <a:pPr algn="l">
              <a:lnSpc>
                <a:spcPts val="4899"/>
              </a:lnSpc>
            </a:pPr>
          </a:p>
          <a:p>
            <a:pPr algn="l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Y fin</a:t>
            </a:r>
            <a:r>
              <a:rPr lang="en-US" sz="3499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almente el informe y la presentación del proyecto.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434923" y="469248"/>
            <a:ext cx="3418155" cy="672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2"/>
              </a:lnSpc>
            </a:pPr>
            <a:r>
              <a:rPr lang="en-US" sz="5600" spc="-274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Evidencias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72385" y="1698880"/>
            <a:ext cx="12601462" cy="8127943"/>
          </a:xfrm>
          <a:custGeom>
            <a:avLst/>
            <a:gdLst/>
            <a:ahLst/>
            <a:cxnLst/>
            <a:rect r="r" b="b" t="t" l="l"/>
            <a:pathLst>
              <a:path h="8127943" w="12601462">
                <a:moveTo>
                  <a:pt x="0" y="0"/>
                </a:moveTo>
                <a:lnTo>
                  <a:pt x="12601461" y="0"/>
                </a:lnTo>
                <a:lnTo>
                  <a:pt x="12601461" y="8127943"/>
                </a:lnTo>
                <a:lnTo>
                  <a:pt x="0" y="81279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51594" y="423517"/>
            <a:ext cx="9255918" cy="105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56"/>
              </a:lnSpc>
            </a:pPr>
            <a:r>
              <a:rPr lang="en-US" sz="8800" spc="-431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Mockup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25976" y="3037484"/>
            <a:ext cx="4069321" cy="5086651"/>
          </a:xfrm>
          <a:custGeom>
            <a:avLst/>
            <a:gdLst/>
            <a:ahLst/>
            <a:cxnLst/>
            <a:rect r="r" b="b" t="t" l="l"/>
            <a:pathLst>
              <a:path h="5086651" w="4069321">
                <a:moveTo>
                  <a:pt x="0" y="0"/>
                </a:moveTo>
                <a:lnTo>
                  <a:pt x="4069321" y="0"/>
                </a:lnTo>
                <a:lnTo>
                  <a:pt x="4069321" y="5086652"/>
                </a:lnTo>
                <a:lnTo>
                  <a:pt x="0" y="50866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10091" y="1041625"/>
            <a:ext cx="7467819" cy="105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56"/>
              </a:lnSpc>
            </a:pPr>
            <a:r>
              <a:rPr lang="en-US" sz="8800" spc="-431" b="true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Conclusiones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68512" y="3701242"/>
            <a:ext cx="11218103" cy="369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6193" indent="-378096" lvl="1">
              <a:lnSpc>
                <a:spcPts val="4903"/>
              </a:lnSpc>
              <a:spcBef>
                <a:spcPct val="0"/>
              </a:spcBef>
              <a:buFont typeface="Arial"/>
              <a:buChar char="•"/>
            </a:pPr>
            <a:r>
              <a:rPr lang="en-US" sz="3502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Agenda Barber bus</a:t>
            </a:r>
            <a:r>
              <a:rPr lang="en-US" sz="3502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ca resolver un problema real del rubro de barberías, aportando valor tanto a clientes como a barberos.</a:t>
            </a:r>
          </a:p>
          <a:p>
            <a:pPr algn="l" marL="756193" indent="-378096" lvl="1">
              <a:lnSpc>
                <a:spcPts val="4903"/>
              </a:lnSpc>
              <a:spcBef>
                <a:spcPct val="0"/>
              </a:spcBef>
              <a:buFont typeface="Arial"/>
              <a:buChar char="•"/>
            </a:pPr>
            <a:r>
              <a:rPr lang="en-US" sz="3502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C</a:t>
            </a:r>
            <a:r>
              <a:rPr lang="en-US" sz="3502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reemos que es un proyecto factible, innovador y alineado con nu</a:t>
            </a:r>
            <a:r>
              <a:rPr lang="en-US" sz="3502" spc="-171">
                <a:solidFill>
                  <a:srgbClr val="00000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estras competencias profesionales.</a:t>
            </a:r>
          </a:p>
          <a:p>
            <a:pPr algn="ctr">
              <a:lnSpc>
                <a:spcPts val="490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46235" y="5002261"/>
            <a:ext cx="3763172" cy="4114800"/>
          </a:xfrm>
          <a:custGeom>
            <a:avLst/>
            <a:gdLst/>
            <a:ahLst/>
            <a:cxnLst/>
            <a:rect r="r" b="b" t="t" l="l"/>
            <a:pathLst>
              <a:path h="4114800" w="3763172">
                <a:moveTo>
                  <a:pt x="0" y="0"/>
                </a:moveTo>
                <a:lnTo>
                  <a:pt x="3763171" y="0"/>
                </a:lnTo>
                <a:lnTo>
                  <a:pt x="37631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12973" y="5214184"/>
            <a:ext cx="1369106" cy="4114800"/>
          </a:xfrm>
          <a:custGeom>
            <a:avLst/>
            <a:gdLst/>
            <a:ahLst/>
            <a:cxnLst/>
            <a:rect r="r" b="b" t="t" l="l"/>
            <a:pathLst>
              <a:path h="4114800" w="1369106">
                <a:moveTo>
                  <a:pt x="0" y="0"/>
                </a:moveTo>
                <a:lnTo>
                  <a:pt x="1369106" y="0"/>
                </a:lnTo>
                <a:lnTo>
                  <a:pt x="136910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442842"/>
            <a:ext cx="16297372" cy="2771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1"/>
              </a:lnSpc>
            </a:pPr>
            <a:r>
              <a:rPr lang="en-US" b="true" sz="7197" spc="-352">
                <a:solidFill>
                  <a:srgbClr val="000000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“Agenda Barber: digitalizando la experiencia de barberos y clientes.”</a:t>
            </a:r>
          </a:p>
          <a:p>
            <a:pPr algn="l">
              <a:lnSpc>
                <a:spcPts val="8352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DAGoOMhl_5I</dc:identifier>
  <dcterms:modified xsi:type="dcterms:W3CDTF">2011-08-01T06:04:30Z</dcterms:modified>
  <cp:revision>1</cp:revision>
  <dc:title>PRESENTACIÓN CAPSTONE 1</dc:title>
</cp:coreProperties>
</file>